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33d3121a40437a" /><Relationship Type="http://schemas.openxmlformats.org/officeDocument/2006/relationships/extended-properties" Target="/docProps/app.xml" Id="R96d00f28fb58488c" /><Relationship Type="http://schemas.openxmlformats.org/officeDocument/2006/relationships/officeDocument" Target="/ppt/presentation.xml" Id="R40f9c7c1545f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467bc2154c4ce9"/>
  </p:sldMasterIdLst>
  <p:notesMasterIdLst>
    <p:notesMasterId xmlns:r="http://schemas.openxmlformats.org/officeDocument/2006/relationships" r:id="R27e44ad2c8d94a1e"/>
  </p:notesMasterIdLst>
  <p:sldIdLst>
    <p:sldId xmlns:r="http://schemas.openxmlformats.org/officeDocument/2006/relationships" id="256" r:id="R23a11e68e36c4b74"/>
    <p:sldId xmlns:r="http://schemas.openxmlformats.org/officeDocument/2006/relationships" id="257" r:id="Rdf698ea7c9a748a9"/>
    <p:sldId xmlns:r="http://schemas.openxmlformats.org/officeDocument/2006/relationships" id="258" r:id="R9b0a810f82424326"/>
    <p:sldId xmlns:r="http://schemas.openxmlformats.org/officeDocument/2006/relationships" id="259" r:id="Rc12c33c2fd014538"/>
    <p:sldId xmlns:r="http://schemas.openxmlformats.org/officeDocument/2006/relationships" id="260" r:id="R2ed22f2d85504116"/>
    <p:sldId xmlns:r="http://schemas.openxmlformats.org/officeDocument/2006/relationships" id="261" r:id="R0fcf7e2e22e940cf"/>
    <p:sldId xmlns:r="http://schemas.openxmlformats.org/officeDocument/2006/relationships" id="262" r:id="Rfff7e46ba1934edc"/>
    <p:sldId xmlns:r="http://schemas.openxmlformats.org/officeDocument/2006/relationships" id="263" r:id="Rb048864b492d45b8"/>
    <p:sldId xmlns:r="http://schemas.openxmlformats.org/officeDocument/2006/relationships" id="264" r:id="R6365d0d8db2c4349"/>
    <p:sldId xmlns:r="http://schemas.openxmlformats.org/officeDocument/2006/relationships" id="265" r:id="R707e1b639f5b48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67bc2154c4ce9" /><Relationship Type="http://schemas.openxmlformats.org/officeDocument/2006/relationships/theme" Target="/ppt/theme/theme1.xml" Id="Re485251e024547e3" /><Relationship Type="http://schemas.openxmlformats.org/officeDocument/2006/relationships/notesMaster" Target="/ppt/notesMasters/notesMaster1.xml" Id="R27e44ad2c8d94a1e" /><Relationship Type="http://schemas.openxmlformats.org/officeDocument/2006/relationships/presProps" Target="/ppt/presProps.xml" Id="Rfb010e2da46749c4" /><Relationship Type="http://schemas.openxmlformats.org/officeDocument/2006/relationships/viewProps" Target="/ppt/viewProps.xml" Id="Ra4d25075221148d3" /><Relationship Type="http://schemas.openxmlformats.org/officeDocument/2006/relationships/tableStyles" Target="/ppt/tableStyles.xml" Id="Ra2b4fd4769ca4926" /><Relationship Type="http://schemas.openxmlformats.org/officeDocument/2006/relationships/slide" Target="/ppt/slides/slide1.xml" Id="R23a11e68e36c4b74" /><Relationship Type="http://schemas.openxmlformats.org/officeDocument/2006/relationships/slide" Target="/ppt/slides/slide2.xml" Id="Rdf698ea7c9a748a9" /><Relationship Type="http://schemas.openxmlformats.org/officeDocument/2006/relationships/slide" Target="/ppt/slides/slide3.xml" Id="R9b0a810f82424326" /><Relationship Type="http://schemas.openxmlformats.org/officeDocument/2006/relationships/slide" Target="/ppt/slides/slide4.xml" Id="Rc12c33c2fd014538" /><Relationship Type="http://schemas.openxmlformats.org/officeDocument/2006/relationships/slide" Target="/ppt/slides/slide5.xml" Id="R2ed22f2d85504116" /><Relationship Type="http://schemas.openxmlformats.org/officeDocument/2006/relationships/slide" Target="/ppt/slides/slide6.xml" Id="R0fcf7e2e22e940cf" /><Relationship Type="http://schemas.openxmlformats.org/officeDocument/2006/relationships/slide" Target="/ppt/slides/slide7.xml" Id="Rfff7e46ba1934edc" /><Relationship Type="http://schemas.openxmlformats.org/officeDocument/2006/relationships/slide" Target="/ppt/slides/slide8.xml" Id="Rb048864b492d45b8" /><Relationship Type="http://schemas.openxmlformats.org/officeDocument/2006/relationships/slide" Target="/ppt/slides/slide9.xml" Id="R6365d0d8db2c4349" /><Relationship Type="http://schemas.openxmlformats.org/officeDocument/2006/relationships/slide" Target="/ppt/slides/slide10.xml" Id="R707e1b639f5b48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9017192dbd140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b8d6ff890745d3" /><Relationship Type="http://schemas.openxmlformats.org/officeDocument/2006/relationships/notesMaster" Target="/ppt/notesMasters/notesMaster1.xml" Id="R5444c4803e7a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4a2c6cfb354f17" /><Relationship Type="http://schemas.openxmlformats.org/officeDocument/2006/relationships/notesMaster" Target="/ppt/notesMasters/notesMaster1.xml" Id="R608875b02bf146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12421c4e8f4e39" /><Relationship Type="http://schemas.openxmlformats.org/officeDocument/2006/relationships/notesMaster" Target="/ppt/notesMasters/notesMaster1.xml" Id="R6a353517f47142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9f9e7986d44f0c" /><Relationship Type="http://schemas.openxmlformats.org/officeDocument/2006/relationships/notesMaster" Target="/ppt/notesMasters/notesMaster1.xml" Id="Re25f0446f65f49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705ddf35f24fb3" /><Relationship Type="http://schemas.openxmlformats.org/officeDocument/2006/relationships/notesMaster" Target="/ppt/notesMasters/notesMaster1.xml" Id="R8ae4200ad45140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b460cb3ec4d25" /><Relationship Type="http://schemas.openxmlformats.org/officeDocument/2006/relationships/notesMaster" Target="/ppt/notesMasters/notesMaster1.xml" Id="R280d336500724d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364757eee54369" /><Relationship Type="http://schemas.openxmlformats.org/officeDocument/2006/relationships/notesMaster" Target="/ppt/notesMasters/notesMaster1.xml" Id="R3124fd6d1e334c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9ba4cb6ec54d03" /><Relationship Type="http://schemas.openxmlformats.org/officeDocument/2006/relationships/notesMaster" Target="/ppt/notesMasters/notesMaster1.xml" Id="R5a1a5009c4d147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0cb0c766cd4608" /><Relationship Type="http://schemas.openxmlformats.org/officeDocument/2006/relationships/notesMaster" Target="/ppt/notesMasters/notesMaster1.xml" Id="Rb11d236db0a842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b4aaa6dc954bc6" /><Relationship Type="http://schemas.openxmlformats.org/officeDocument/2006/relationships/notesMaster" Target="/ppt/notesMasters/notesMaster1.xml" Id="R0437c96afab4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1e5f38144498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afd2b86912c44b0" /><Relationship Type="http://schemas.openxmlformats.org/officeDocument/2006/relationships/slideLayout" Target="/ppt/slideLayouts/slideLayout2.xml" Id="R9ad53c1b14154f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d53c1b14154f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09df6644bf4d70" /><Relationship Type="http://schemas.openxmlformats.org/officeDocument/2006/relationships/notesSlide" Target="/ppt/notesSlides/notesSlide1.xml" Id="Rc3728c0760f445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ee15dd300f4c5e" /><Relationship Type="http://schemas.openxmlformats.org/officeDocument/2006/relationships/notesSlide" Target="/ppt/notesSlides/notesSlide2.xml" Id="Rd77c1f1be295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691a0cc374e2b" /><Relationship Type="http://schemas.openxmlformats.org/officeDocument/2006/relationships/notesSlide" Target="/ppt/notesSlides/notesSlide3.xml" Id="R357614211c12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252c40bf7f4683" /><Relationship Type="http://schemas.openxmlformats.org/officeDocument/2006/relationships/image" Target="/ppt/media/image.png" Id="R1e6716a8687443da" /><Relationship Type="http://schemas.openxmlformats.org/officeDocument/2006/relationships/notesSlide" Target="/ppt/notesSlides/notesSlide4.xml" Id="R3b528f0d5b8142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e230c23c0b4bfa" /><Relationship Type="http://schemas.openxmlformats.org/officeDocument/2006/relationships/notesSlide" Target="/ppt/notesSlides/notesSlide5.xml" Id="R7a296b41d3a548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b966a3348b4172" /><Relationship Type="http://schemas.openxmlformats.org/officeDocument/2006/relationships/notesSlide" Target="/ppt/notesSlides/notesSlide6.xml" Id="R70c1d41291e544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06eb3e49a743ae" /><Relationship Type="http://schemas.openxmlformats.org/officeDocument/2006/relationships/notesSlide" Target="/ppt/notesSlides/notesSlide7.xml" Id="R6280207f29bc46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47bcdf7594710" /><Relationship Type="http://schemas.openxmlformats.org/officeDocument/2006/relationships/notesSlide" Target="/ppt/notesSlides/notesSlide8.xml" Id="Rf482206b733e40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948f3424b441c6" /><Relationship Type="http://schemas.openxmlformats.org/officeDocument/2006/relationships/notesSlide" Target="/ppt/notesSlides/notesSlide9.xml" Id="R2b26704101ef49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d44489fe89404d" /><Relationship Type="http://schemas.openxmlformats.org/officeDocument/2006/relationships/notesSlide" Target="/ppt/notesSlides/notesSlide10.xml" Id="Reb1626d83cee48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667B4-E65F-49CF-A4AF-507BE313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3EE6F-932B-432B-B016-BDC67E1B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24460-5307-4A0B-8C48-16CBD6FE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广大附 AI 助手试点阶段汇报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5B632-F41B-40C0-9C3B-08353D2B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与教育智能体建设建议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6ABD4-03AA-4826-991E-FFC70EB1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从老师个人 AI 助手，到学校级校园智能助手，再到 AI 示范校园成果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381A2-F4FD-47C6-B762-2E461A0B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73426-F02E-4370-BB80-9F72D229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F077B-4A98-4F89-A071-CCBAA732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试点已成立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21B99-377B-4268-A322-E461B194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AI 已进入老师真实工作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FA0D9-002E-435B-B2C6-F87B7B02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95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E8DFB-8AF4-43CE-90F1-8E0C4239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第二阶段交付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C7DF2-6506-4FB8-9DD3-446BC7CB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00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建设“广大附教育智能体”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C1288-F908-44F7-932E-BFEC723E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AEAEC-731A-4693-A822-DD8598C6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示范校园成果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88A7A-A4EF-4A46-8BA4-8FFDFD34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00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沉淀可展示、可申报材料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B4357-8372-487A-9C9A-CA48B51C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AA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AAA2"/>
                </a:solidFill>
                <a:latin typeface="PingFang SC"/>
                <a:ea typeface="PingFang SC"/>
                <a:cs typeface="PingFang SC"/>
              </a:rPr>
              <a:t>2026.05.28 · CatsCo / XiaoBa-CLI</a:t>
            </a:r>
          </a:p>
        </p:txBody>
      </p:sp>
    </p:spTree>
    <p:extLst>
      <p:ext uri="{BB962C8B-B14F-4D97-AF65-F5344CB8AC3E}">
        <p14:creationId xmlns:p14="http://schemas.microsoft.com/office/powerpoint/2010/main" val="15389340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09B20-B6BB-4DAC-88AC-593B3C62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E5754-8361-4171-ABEB-4FEE051F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D6E22-6439-404D-9321-100A704C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第一阶段试点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1A0D9-60FD-4D4C-AF23-8922C487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AI 已经进入老师真实工作流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FEFBB-6314-44B1-A683-783A14F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第一阶段的关键成果不是安装了工具，而是老师开始用 AI 处理真实任务。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49D7-CB5A-4C6B-B8EC-71F096C4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E51D1-DF94-4D3B-8DA6-837DFAC3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F625C-1F5B-46DD-B6CF-7929F827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总务处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3666C-0B92-46FF-9895-58404E57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盘点、物料、合同、Excel 台账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2F1ED-7CC7-47F4-9829-86321113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24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1F523-6604-4600-B86F-21E48C01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241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B7466-5CA6-4FAF-BD25-A90DAC80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9557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教务处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C9D24-D0BE-47A0-8F13-805B25B0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194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排课、调课、成绩分析、教学资料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0D8CD-C00D-49BE-B8AC-6C6351BD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35E24-FCAF-4E57-9949-CCBFE5FE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88ADF-30D2-4F79-BDDE-2BA633CC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9557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校办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7A9A6-0B5A-49E8-8C4C-4B4D1932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194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会议纪要、通知、汇报材料、制度文件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9A4CB-ECDB-4110-9EA2-9BDD89E4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981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4E3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511B4-6864-4044-9DBA-03470D3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试点结论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544E6-35E5-4638-94DE-1A9C8270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910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老师不是只“体验一下 AI”，而是已经把 AI 放进文档、表格、资料整理和部门流程里。需求已经被验证，下一步应该把分散使用沉淀成学校级能力。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A86A9-188C-4FA0-AD93-D0ED0BAA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4935E-7ADD-4E36-BE12-561CCEDD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93AB3-A26F-4501-90DC-4C20083B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52019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5B6622-21EA-431E-A4CA-B9018F82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D44BE-B092-49F3-AA3E-75F3DB1C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70D23-8530-48E5-9DD5-04B86BEF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rPr>
              <a:t>场景洞察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F35E3-634A-414D-A147-CBB564D1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真正的价值，是处理学校反复发生的复杂工作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AB698-8B91-4376-8856-D65BC666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文档类需求是入口；周期性、耗时、规则复杂的任务，才是学校级价值。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1BBCB-9DCA-4C0E-9C02-56B7CDB1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0A030-09DA-4315-9FEE-4D7736D4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634BE-6EC6-4EA6-AFF6-1A253420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CDF74-EE7A-475D-A1E6-833E184A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 / 调课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成绩分析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班级报告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93424-E96D-4A8D-ABF5-64C0B0DF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029BE-909B-4168-9702-31F88523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89DAF-70BF-4BBB-9A76-AFDA402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7087-2750-41FE-9906-9886BF11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物料盘点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合同台账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Excel 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A3F2D-27DB-426D-B724-92194A15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E0471-5F7E-44F0-BA61-68E0375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65126-4F43-40A7-BE15-3C0F0199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校办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A88E0-C1B1-4617-8523-019DF8E3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会议纪要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通知公告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汇报材料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55E1B-CB70-4CAF-9955-BA669D21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2D3C1-9C37-4437-A283-47C0BBE1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7D439-1328-4EFB-93C9-7D62320B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ACB57-5A1D-4AFE-B1F8-AFC2800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备课辅助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复习重点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教材资料整理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0BEC9-A7ED-46F1-AF13-BADC6CB8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89B2C-68F3-4C59-A626-86C91F74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53CDA-3C53-4AA9-84B3-049A5845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41134-0F55-4DE9-80FA-93ED733D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微信群资料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历史模板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快速检索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3DE6B-617F-4445-8674-23FA907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这些任务不一定每天发生，但每次都占用大量人力；如果每学期有十个类似场景，就会构成学校真实的 AI 应用价值。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56049-DBE2-4B9C-82D8-78E5E4DD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3E68E6-A726-48F6-AA70-B41E9695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A2776A-9BA5-4004-B959-1F4A4B77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38656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0275D-4694-4A3C-B258-FCF4B1A8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F3DCE-835D-4C18-B905-27C43640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F09C7-5D38-46E9-8845-7DDB7662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现场展示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C7D11-C7E3-4F6D-A438-D748E653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排课证明：AI 可以处理复杂学校流程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490D4-9733-4478-A058-66B68DE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排课不是普通文本生成，它需要读取材料、理解约束、生成方案、检查冲突、支持修改和导出。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FFADD-1009-4E0A-87B7-30AC24EE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A8F35-2DD1-4361-B25F-A8F044D2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7D372-C3FD-44B7-9A9B-7C6D7CE8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27353-2ADB-4BD6-BC22-6D7C4392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984C2-0973-49D3-8B52-C3632CA2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规则识别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94716-A61A-47F8-BB50-EA7E199F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17506-5453-48D7-9596-E8A51156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E3BCD-B495-4A30-935A-3FA9FB7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生成课表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E5CA0-833F-43D7-887F-27BE7E39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C58BF-B4FB-4336-BD4C-3299B300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0B7E0-0E24-4C67-87CF-2DB29711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冲突检查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D6C86-C7EE-404F-B8FE-3EFE7ACE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9A9C1-C003-4F02-9250-39A06CD8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A156A-153A-46E9-BB81-D33635E9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局部调整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1A40F-63B6-49C1-AEF4-387FFAF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95717-B7EA-40EE-AC24-31B80B0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8B127-ACDD-4DB4-9B85-E5907C21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结果导出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493CE-64A6-4555-A239-9CC60E6F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695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716a8687443da"/>
          <a:stretch xmlns:a="http://schemas.openxmlformats.org/drawingml/2006/main"/>
        </p:blipFill>
        <p:spPr>
          <a:xfrm xmlns:a="http://schemas.openxmlformats.org/drawingml/2006/main">
            <a:off x="1274989" y="3228975"/>
            <a:ext cx="5927271" cy="23050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08D43-F8C2-48AF-BE60-DFD06A0D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95625"/>
            <a:ext cx="2857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C9114-C1C1-4624-9122-3D6CBF25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演示要证明的不是界面，而是 skill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D81330-3B21-4F93-9D2B-93B74A22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10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63A68C-EF25-4006-B799-FEE3A68D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可复用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1869B2-0510-4F43-A56B-0292CBDD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94A286-A239-4DB8-A5A5-8957A95A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29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可检查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227713-20FA-4C29-9397-696DC185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000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D69944-B7AC-4EAD-A06D-6CA6CD5F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244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可调整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EC4D87-8BD1-4AF1-BF11-6327707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95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C38C5A-1D66-46BA-B99F-4953E606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可导出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246CE1-418B-464B-92FF-B8A0B921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031CED-789C-44CB-BA8B-310CB318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F7CA5C-7A06-4FFD-8FC3-EDED2760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19665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C23D6-5CFF-4DAF-AA5C-B6FB0D6C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CC114-4F24-4CAD-9176-49CD74A2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54DD2-1A57-49C6-9CF6-178654C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产品判断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B3192-0A9A-44A7-A51E-6226EBF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个人助手验证需求，学校级智能体沉淀能力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DF2B3-6637-4797-A2EE-B285EB8B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第一阶段不是被否定，而是证明了下一阶段应该怎么升级。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23779-106E-4F60-9F0E-3FA96A99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4000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EED96-8A51-42F9-B98C-39D494AF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24125"/>
            <a:ext cx="4000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CFE1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08A96-E3F3-4287-A0E0-79ABB226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每位老师的个人 AI 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D5187-EEA6-4390-8A79-C2E5A11E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B7108-3EE1-42AC-8E99-87263E93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直接进入个人电脑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BF3E3-BC65-400C-8EF9-68F3B0C4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503D7-B686-42CA-86A7-9EB80CF5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适合启动试点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38A2C-9DF4-4E64-98B7-A77DEDF8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541C6-1AB3-4A26-8456-156F839E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体验接近个人助手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97611-8795-4764-A450-539496C2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AF802-C428-4B3A-9618-B3B95D50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但经验容易分散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D8915-2E48-43D3-B91B-2B54E401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38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广大附教育智能体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52FBE-229E-4D11-BFB9-8AD0913C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122AB-E7F4-46CB-BA0C-4924DC9B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290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云端 24 小时在线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EF304-BF94-4CFF-AB78-0C1B0E3E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C4CCF-4949-4539-9C20-CBC0078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909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多人独立会话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A8CF15-0BC8-4600-8B1B-EEB50E7C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0D361-B934-4A39-B344-5E17C140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529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沉淀学校资料和 skill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8FF08-9B2C-4512-A4C2-73D9DB38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5A8BE-1154-4A5C-B256-DEEDF95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148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形成组织级 AI 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A3EC0-A9E5-4450-837A-AC1402D3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195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BD8D94-9E2F-4F76-989D-0FCF2DD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766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升级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ABC16-4FFB-4DA9-87DA-DA7D2106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2450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本地能力仍保留：老师需要处理本机文件时，可通过上传、授权或本地连接让云端智能体访问材料。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4D86D-D1AB-4820-99D6-073702C0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E2AD2-4016-44DA-9DD5-5344C032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EE6D94-03C1-46D5-84B3-B8B74CD0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36107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6A2D0-A32D-49E5-937F-8949EB7D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BDA89-E16C-4C9F-8592-6DC415CE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B69DE-46E6-40ED-9382-517C3640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第二阶段交付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A41A9-82E5-4898-9F61-8383B0E7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建设 24 小时在线的“广大附教育智能体”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5669E-365B-412F-91F4-C221226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不展开复杂开发计划，重点看 45 天左右能交付什么。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89B0E-F167-40CC-B64B-5EA824B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2EE94-B681-4AFC-80B8-0B43900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广大附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教育智能体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03E78-EA20-40A1-B8DD-D344F9CD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A4685-B17D-40CB-A96A-AFDE0963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75928-204A-4A94-9F3C-74BBA1B5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统一入口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B6C7A-DDED-4816-8E14-F76C6717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老师、教务、总务、校办可用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FA0FF-2F17-4D07-8CB9-7348293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038D5-0D70-4A49-9014-D6232CBE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34EC5-A05C-4C75-8C29-1E5707A7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资料库初版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9F54B-6B3D-4420-879F-0BA287B1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文件归档、检索、问答、引用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CB886-2A3C-40A5-BF7A-383DA10B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328CA-D865-4682-B619-1F364812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A1FC4-A68A-4199-AC68-3CF1B42B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首批 skills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7CBF1-972C-4B73-9E01-0806CC35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排课、盘点、文档、成绩、备课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7B1AE-1174-4297-ABDB-CA7C232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31210-3FFC-46B5-8844-1BAC47B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0D0F6-0294-442E-886F-D354991C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成果材料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80063-7FF7-4E26-AB88-0203DFD9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720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展示、汇报、申报基础材料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AF9FD-4C8C-4775-AE93-5D60D325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A0D40-D79E-4A92-ADC7-1594C61A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242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1FDC16-1DE3-4E4E-8D40-F9266CDB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292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F832F-D0F8-49DA-A057-9191BCCE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292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2FEF8-9BD9-4421-A9BA-2589199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6E96B-A46B-456D-BE15-2F174464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76D4DF-F4CC-45FF-B216-0576459B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82357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C1FEC6-A950-4EDA-A513-06871DA7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D2007-61A9-4395-ACB1-DAFB667D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0C788-A6D7-439E-B243-9CD09A3F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rPr>
              <a:t>学校价值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2AB24-65A1-4299-BAB8-91BC618E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对老师像助手，对学校是可持续积累的智能资产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CDE5F-951B-41D4-A5EF-BC4954F5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同一个入口，对不同层级产生不同价值。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23E7B-12EA-4C84-8D37-2954145F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F"/>
          </a:solidFill>
          <a:ln xmlns:a="http://schemas.openxmlformats.org/drawingml/2006/main" w="9525">
            <a:solidFill>
              <a:srgbClr val="E0E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DDC33-2BD4-4F40-B794-04F82AF6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765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6B4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56B4A"/>
                </a:solidFill>
                <a:latin typeface="PingFang SC"/>
                <a:ea typeface="PingFang SC"/>
                <a:cs typeface="PingFang SC"/>
              </a:rPr>
              <a:t>老师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84A99-5778-4363-822B-43C3E0EC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处理文档、表格、通知、课件、备课、材料整理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4713B-AD70-4D1A-8B04-9D76E5E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BE"/>
          </a:solidFill>
          <a:ln xmlns:a="http://schemas.openxmlformats.org/drawingml/2006/main" w="9525">
            <a:solidFill>
              <a:srgbClr val="E0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9AEAE-1F3D-48F3-9B5F-DC38EBD5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部门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F51BC-2619-4B93-B976-F0D97BBE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05225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沉淀流程、模板、台账、协作方式和可复用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D7BC3-EE03-4F15-96E2-BA58E0E2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647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E0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34486-53B8-466C-9C1F-623745F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767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学校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88EF1-C956-495C-9C84-8B2118F3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形成资料库、校本经验、教师案例和 AI 示范成果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82D20-B659-4FD3-96E2-36C2D13A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190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360DD-238E-427C-8FAE-F3CC32EA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越用越有价值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C6F22-9441-4F52-A269-6396C7C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资料、流程、模板、案例和技能不再散落在个人电脑和聊天记录里，而是沉淀为学校资产。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2818B-F56D-4300-B7B9-DC1A0115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3CBE9-94E5-44CA-9B0A-B7C7E36C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AAB0A-E670-4D0A-8618-E2124882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89887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A0D391-BEA9-4EF3-A289-1D2CAC7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B03EF-84F6-4357-B381-647E0EC6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19D38-26BE-47EC-BD98-38C0AD69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政策窗口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42494-229F-4B4C-B678-49404860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政策窗口支持真实场景和典型成果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2F634-DF67-47D4-AE0C-54D32EF6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政策页放在这里：它支撑下一阶段价值，而不是替代试点事实。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4C442-C9D7-4390-9E0D-1F8CA71C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8F2EC-6617-41D7-A1D4-84BBBF2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D1BA9-02D4-4A8D-9C93-F75A0D4D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广东省方向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80E9D-FB03-42D7-B141-45581413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4419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从教师 AI 素养、学生 AI 素养、课程指导、平台融合应用，进一步走向“场域—场景—典型应用”的全域场景应用。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71FD0-0E85-4A86-BDF9-8DC219F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6BF8E-2FD9-4821-AA46-BFF23582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FB43C-DDA8-4525-9807-2FF8EEE1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广州市方向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BEFBC-1850-4C91-878C-4B2F373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4419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围绕助教、助学、助育、助研、助评、助管，推动教育智能体、AI 学伴、AI 教研助手、学校与企业结对和典型应用场景。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5EEE0-7CB7-4C11-A155-C28751DF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4E3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BE337-9F7A-465D-9986-1E14B803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625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对广大附的机会：用已经发生的真实试点，形成可展示、可评估、可复制的 AI 教育融合成果。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2C394-CD9C-4E68-9353-C087609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来源：广东省教育厅《广东省基础教育人工智能全域场景应用指南》政策解读；广州市教育局《若干措施（2025-2027年）》及公开答复函。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1004B-FD77-4E07-A304-82E5D26B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58565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52E25-D292-4DAF-863A-7F6219D9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DF859-DADA-49E9-B033-073C42A3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57996-9F1F-4513-8B31-E0F3488F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示范路径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65D48-DB8C-4A68-91FE-A5664F6A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从试点学校，到 AI 示范校园成果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DB69C-CB43-48EC-9D47-77B98D17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示范不是写出来的，而是从真实使用、真实场景和真实成果中整理出来的。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6BE15-13C7-4922-A870-8E9435FE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5B491-CAEE-4DBC-BA2B-C5A4068C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真实使用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244C6-19FA-4AFC-BE5A-5D5108B7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老师和部门持续使用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01DDD-9A1D-4F3E-A139-265E3BD0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6F9A2-C3FA-48D0-A2AF-69A869A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B6BC6-A623-497E-AA83-7AF7A14E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教育智能体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F10D4-BD7A-452E-B7EB-3C0B0312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云端主体与资料库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4F99C-112D-4314-9C81-C4DFA123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655C4-AFED-4A83-8545-2E2C4C33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F2854-22C8-4C39-B45A-BA697E5E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重点场景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B36AD-46EA-4605-94F4-640D7DE5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3-5 个场景做深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766A2-125F-487E-93F3-5DC61AE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55851-1A8B-4645-BEBC-5CF38D08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40DC2-6C66-48C5-91D2-2154C80F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案例沉淀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8081E-F732-415E-9A56-B114F320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教师/部门/学校案例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CB50F-1699-4CC3-924E-9650DAD7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4769A-8762-445B-B7A6-6EEDA76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5BC08-C920-4745-9679-760DB5B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材料包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ED5E4-B4BD-4349-B7C9-1BBB30E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方案、报告、截图、数据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A554F-15F5-4CFC-A61A-BFCB738D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CD045E-7E19-49A2-ABD3-52985815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FBBD1-AFE4-40BA-8AFB-F823A97B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窗口匹配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969689-4E62-4813-88DC-508060A9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展示、案例征集、申报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903CC-626A-43D2-BA84-91D67F35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00D326-179E-41AA-BBDB-DC8A96DE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96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我们承担技术建设、场景落地、成果整理和申报准备；学校负责明确方向、开放典型场景、组织关键老师参与。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5AA97-BC59-47F0-B8DD-D99C3C71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5EF958-62DE-4E63-B452-089E60BF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8866C0-9C55-433A-B5EB-DDFBA5F8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17795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5D01A-6ECD-44A9-B203-19A80163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E1AEB-40A2-4817-A14C-2B5CEED7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建议启动第二阶段建设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139B3-DF66-45E0-8E37-4E80DC3C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把第一阶段试点升级为正式的“广大附教育智能体”建设项目。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5D64E-3C02-4274-B074-85D0B5BD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2A"/>
          </a:solidFill>
          <a:ln xmlns:a="http://schemas.openxmlformats.org/drawingml/2006/main" w="9525">
            <a:solidFill>
              <a:srgbClr val="3144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02779-44B8-427C-91B7-FEEC4D12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标准服务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E0085-4BF9-4AC9-9868-FEC9BE97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48,000 元 / 季度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6F37F-2DBF-45EB-9D46-35183673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首批示范学校可在确认书中约定专项支持方式。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3D7CE-B504-4B4C-A8BC-81E17DD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5810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F7F8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AF32E-5A33-489F-92EB-DC50E2F4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希望今天确认的 5 件事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3E75D-E4BD-4956-B0FF-A56F85AA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8DCB7-5337-4AC6-BE0E-7FBBB807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是否进入第二阶段建设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4413C-0295-4315-BE48-8BC75707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7ED80-ED6A-4ED9-90CC-2441152F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是否确定“广大附教育智能体”为学校级项目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93BB2-2BBC-417B-92E2-4BD3371D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97EFF-AFA5-4BFB-A547-E34B0D90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是否指定校内项目对接人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FA956-DF4B-4251-844E-C53E4A54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D8BB4-759C-431D-A487-8FE8BAEC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1480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是否以 AI 示范校园为目标整理材料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9B607-019E-4600-A24D-56C7909E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14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9F80E-5ACC-420F-84A1-BFABBB3D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386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是否推进季度服务合作确认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3F229-496B-4693-A2EA-7F90C779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下一步不是重新讨论 AI 能不能用，而是把已经验证的试点，变成学校可以持续拥有的能力和成果。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DA534-C9CA-46DE-9C3D-AA38A7E8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DA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AAA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7332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2026-05-27T11:04:35.6200000Z</dcterms:created>
  <dcterms:modified xsi:type="dcterms:W3CDTF">2026-05-27T11:04:35.6200000Z</dcterms:modified>
</coreProperties>
</file>