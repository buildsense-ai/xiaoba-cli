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0725c184ea4529" /><Relationship Type="http://schemas.openxmlformats.org/officeDocument/2006/relationships/extended-properties" Target="/docProps/app.xml" Id="R0beaf447199b4453" /><Relationship Type="http://schemas.openxmlformats.org/officeDocument/2006/relationships/officeDocument" Target="/ppt/presentation.xml" Id="Rc8942953c90d4c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132866fffb4b9c"/>
  </p:sldMasterIdLst>
  <p:notesMasterIdLst>
    <p:notesMasterId xmlns:r="http://schemas.openxmlformats.org/officeDocument/2006/relationships" r:id="R3b66df7c57e84733"/>
  </p:notesMasterIdLst>
  <p:sldIdLst>
    <p:sldId xmlns:r="http://schemas.openxmlformats.org/officeDocument/2006/relationships" id="256" r:id="Rcc50202fee1748b8"/>
    <p:sldId xmlns:r="http://schemas.openxmlformats.org/officeDocument/2006/relationships" id="257" r:id="Raa8ecbed2be54fe5"/>
    <p:sldId xmlns:r="http://schemas.openxmlformats.org/officeDocument/2006/relationships" id="258" r:id="R374ce7817eb74cc8"/>
    <p:sldId xmlns:r="http://schemas.openxmlformats.org/officeDocument/2006/relationships" id="259" r:id="Rad740720ef524234"/>
    <p:sldId xmlns:r="http://schemas.openxmlformats.org/officeDocument/2006/relationships" id="260" r:id="R2961f10de237436d"/>
    <p:sldId xmlns:r="http://schemas.openxmlformats.org/officeDocument/2006/relationships" id="261" r:id="Rff1d1c9d6daa4dde"/>
    <p:sldId xmlns:r="http://schemas.openxmlformats.org/officeDocument/2006/relationships" id="262" r:id="R1794f5ead1184a23"/>
    <p:sldId xmlns:r="http://schemas.openxmlformats.org/officeDocument/2006/relationships" id="263" r:id="R7177a4ded50c46c7"/>
    <p:sldId xmlns:r="http://schemas.openxmlformats.org/officeDocument/2006/relationships" id="264" r:id="Rbc2d8397b3274c5c"/>
    <p:sldId xmlns:r="http://schemas.openxmlformats.org/officeDocument/2006/relationships" id="265" r:id="R44ee03e0665649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32866fffb4b9c" /><Relationship Type="http://schemas.openxmlformats.org/officeDocument/2006/relationships/theme" Target="/ppt/theme/theme1.xml" Id="R47f0e9b8e1614428" /><Relationship Type="http://schemas.openxmlformats.org/officeDocument/2006/relationships/notesMaster" Target="/ppt/notesMasters/notesMaster1.xml" Id="R3b66df7c57e84733" /><Relationship Type="http://schemas.openxmlformats.org/officeDocument/2006/relationships/presProps" Target="/ppt/presProps.xml" Id="R119231f5dbf641fe" /><Relationship Type="http://schemas.openxmlformats.org/officeDocument/2006/relationships/viewProps" Target="/ppt/viewProps.xml" Id="Rbd0d89655233492b" /><Relationship Type="http://schemas.openxmlformats.org/officeDocument/2006/relationships/tableStyles" Target="/ppt/tableStyles.xml" Id="R2bde53fd6c374446" /><Relationship Type="http://schemas.openxmlformats.org/officeDocument/2006/relationships/slide" Target="/ppt/slides/slide1.xml" Id="Rcc50202fee1748b8" /><Relationship Type="http://schemas.openxmlformats.org/officeDocument/2006/relationships/slide" Target="/ppt/slides/slide2.xml" Id="Raa8ecbed2be54fe5" /><Relationship Type="http://schemas.openxmlformats.org/officeDocument/2006/relationships/slide" Target="/ppt/slides/slide3.xml" Id="R374ce7817eb74cc8" /><Relationship Type="http://schemas.openxmlformats.org/officeDocument/2006/relationships/slide" Target="/ppt/slides/slide4.xml" Id="Rad740720ef524234" /><Relationship Type="http://schemas.openxmlformats.org/officeDocument/2006/relationships/slide" Target="/ppt/slides/slide5.xml" Id="R2961f10de237436d" /><Relationship Type="http://schemas.openxmlformats.org/officeDocument/2006/relationships/slide" Target="/ppt/slides/slide6.xml" Id="Rff1d1c9d6daa4dde" /><Relationship Type="http://schemas.openxmlformats.org/officeDocument/2006/relationships/slide" Target="/ppt/slides/slide7.xml" Id="R1794f5ead1184a23" /><Relationship Type="http://schemas.openxmlformats.org/officeDocument/2006/relationships/slide" Target="/ppt/slides/slide8.xml" Id="R7177a4ded50c46c7" /><Relationship Type="http://schemas.openxmlformats.org/officeDocument/2006/relationships/slide" Target="/ppt/slides/slide9.xml" Id="Rbc2d8397b3274c5c" /><Relationship Type="http://schemas.openxmlformats.org/officeDocument/2006/relationships/slide" Target="/ppt/slides/slide10.xml" Id="R44ee03e0665649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0fb2c06a8ab40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61eed5a8a546f2" /><Relationship Type="http://schemas.openxmlformats.org/officeDocument/2006/relationships/notesMaster" Target="/ppt/notesMasters/notesMaster1.xml" Id="Raac09208ac274a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de492ddb354834" /><Relationship Type="http://schemas.openxmlformats.org/officeDocument/2006/relationships/notesMaster" Target="/ppt/notesMasters/notesMaster1.xml" Id="R15836b924a004f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dd0d14f4e14a38" /><Relationship Type="http://schemas.openxmlformats.org/officeDocument/2006/relationships/notesMaster" Target="/ppt/notesMasters/notesMaster1.xml" Id="R944f35b34a464f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fa14438a864119" /><Relationship Type="http://schemas.openxmlformats.org/officeDocument/2006/relationships/notesMaster" Target="/ppt/notesMasters/notesMaster1.xml" Id="Raf38de775e6747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2c57ff21fc4473" /><Relationship Type="http://schemas.openxmlformats.org/officeDocument/2006/relationships/notesMaster" Target="/ppt/notesMasters/notesMaster1.xml" Id="R03d0d935045f47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42206692a84cc5" /><Relationship Type="http://schemas.openxmlformats.org/officeDocument/2006/relationships/notesMaster" Target="/ppt/notesMasters/notesMaster1.xml" Id="R57be99da1e1e40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751a6842f54e7a" /><Relationship Type="http://schemas.openxmlformats.org/officeDocument/2006/relationships/notesMaster" Target="/ppt/notesMasters/notesMaster1.xml" Id="R37b7615529a64d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e42693815e4ed9" /><Relationship Type="http://schemas.openxmlformats.org/officeDocument/2006/relationships/notesMaster" Target="/ppt/notesMasters/notesMaster1.xml" Id="Rf63f43182d9a45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a1c0c2d1164ee6" /><Relationship Type="http://schemas.openxmlformats.org/officeDocument/2006/relationships/notesMaster" Target="/ppt/notesMasters/notesMaster1.xml" Id="R02763d40a3334a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690734f0894c22" /><Relationship Type="http://schemas.openxmlformats.org/officeDocument/2006/relationships/notesMaster" Target="/ppt/notesMasters/notesMaster1.xml" Id="R29e452bb169441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2e115bcaf4bb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dedfc16fc8743e0" /><Relationship Type="http://schemas.openxmlformats.org/officeDocument/2006/relationships/slideLayout" Target="/ppt/slideLayouts/slideLayout2.xml" Id="R98264a19890942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264a19890942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60420b51454ecb" /><Relationship Type="http://schemas.openxmlformats.org/officeDocument/2006/relationships/notesSlide" Target="/ppt/notesSlides/notesSlide1.xml" Id="Rb4d08fb86ef94f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d807eea3ac4213" /><Relationship Type="http://schemas.openxmlformats.org/officeDocument/2006/relationships/notesSlide" Target="/ppt/notesSlides/notesSlide2.xml" Id="R82c63b27b1f640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b9752c015b443a" /><Relationship Type="http://schemas.openxmlformats.org/officeDocument/2006/relationships/notesSlide" Target="/ppt/notesSlides/notesSlide3.xml" Id="Ra209c3edb97c4c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ad7a66520a4247" /><Relationship Type="http://schemas.openxmlformats.org/officeDocument/2006/relationships/image" Target="/ppt/media/image.png" Id="R39c3bca60dfd412d" /><Relationship Type="http://schemas.openxmlformats.org/officeDocument/2006/relationships/notesSlide" Target="/ppt/notesSlides/notesSlide4.xml" Id="R1cd3e1dc763e49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58feedfc0549b3" /><Relationship Type="http://schemas.openxmlformats.org/officeDocument/2006/relationships/notesSlide" Target="/ppt/notesSlides/notesSlide5.xml" Id="R78c1af2b3ccb41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c79f30091b435c" /><Relationship Type="http://schemas.openxmlformats.org/officeDocument/2006/relationships/notesSlide" Target="/ppt/notesSlides/notesSlide6.xml" Id="Rfbef1dbe1aa242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af6b469c984dac" /><Relationship Type="http://schemas.openxmlformats.org/officeDocument/2006/relationships/notesSlide" Target="/ppt/notesSlides/notesSlide7.xml" Id="Rc0657f33ad654d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85948a5ff1468e" /><Relationship Type="http://schemas.openxmlformats.org/officeDocument/2006/relationships/notesSlide" Target="/ppt/notesSlides/notesSlide8.xml" Id="Rf9d08301169241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3f125374c84294" /><Relationship Type="http://schemas.openxmlformats.org/officeDocument/2006/relationships/notesSlide" Target="/ppt/notesSlides/notesSlide9.xml" Id="R8105a5aac6fa46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c041cb00364fef" /><Relationship Type="http://schemas.openxmlformats.org/officeDocument/2006/relationships/notesSlide" Target="/ppt/notesSlides/notesSlide10.xml" Id="R22983a0c066f46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68BBCE-0390-4407-A10A-C2D0C4C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C3254-1329-499D-9588-1CE80AF0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DC1CA-542E-42F1-A6BD-0B0814B2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广大附 AI 助手试点阶段汇报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537F1-239F-4837-846F-707F4498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与教育智能体建设方案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D1564-6290-4B4F-83E6-83F24218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从老师个人 AI 助手，到学校级校园智能助手，再到 AI 示范校园成果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4CC99-8608-4814-8DE0-F4D08C86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4B599-6C43-44A2-AA96-826E01A8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9040B-A4C6-4668-A4B5-A42B964F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试点已成立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F298C-EECB-4C39-88E4-E6E9B47C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AI 已进入老师真实工作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4DB9E-D33C-4341-8605-97082C62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95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5E2F7-6625-4F7A-B16A-08A185F2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第二阶段交付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A5793-9EBC-4AA9-B818-5E949819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00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建设“广大附教育智能体”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0DF13-5637-4332-A190-507E6ADF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9570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CB7CF-9682-4053-BED9-077235D8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7F8F5"/>
                </a:solidFill>
                <a:latin typeface="PingFang SC"/>
                <a:ea typeface="PingFang SC"/>
                <a:cs typeface="PingFang SC"/>
              </a:rPr>
              <a:t>示范校园成果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A0833-1D20-4998-817C-2A0A49D3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005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沉淀可展示、可申报材料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6168F-E731-4216-9110-84036296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AA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AAA2"/>
                </a:solidFill>
                <a:latin typeface="PingFang SC"/>
                <a:ea typeface="PingFang SC"/>
                <a:cs typeface="PingFang SC"/>
              </a:rPr>
              <a:t>2026.05.28 · AI 教育智能体建设沟通材料</a:t>
            </a:r>
          </a:p>
        </p:txBody>
      </p:sp>
    </p:spTree>
    <p:extLst>
      <p:ext uri="{BB962C8B-B14F-4D97-AF65-F5344CB8AC3E}">
        <p14:creationId xmlns:p14="http://schemas.microsoft.com/office/powerpoint/2010/main" val="2463406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8FE22-EF51-4B39-BA97-C6437B4D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2E7D0-CE46-4354-949A-7352E13C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CC4BE-4F37-4AEF-96C7-DE47FE2F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第一阶段试点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EFCB2-AAF0-4D40-BF65-434E677D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AI 已开始进入老师真实工作流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FA214-B460-4575-926C-97585F3E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第一阶段的关键成果不是安装了工具，而是老师开始用 AI 处理真实任务。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712DA-A7E3-434B-B82B-E89B49D6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E63FC-C67A-47EA-A04C-E5029214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4CB60-FB7E-4F0B-B057-5858C4AD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总务处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F01C8-D81A-408B-9B0E-62ACCA75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盘点、物料、合同、Excel 台账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D37FB-7944-42AA-A902-A992981A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24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2B756-CA60-4838-A831-0EF83F25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241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7BA6C-D344-4626-BA13-0ACA0624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9557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教务处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3A6C9-9B76-41E8-92A6-165CD20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194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排课、调课、冲突检查、结果导出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7BC72-68E1-465F-B65E-79B5ABC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11EC3-7265-4299-BC3A-9FC8B6D4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CA4E0-FD2C-4141-AFC5-502B59D1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9557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校办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508B6-D7C8-4E83-903E-EAA9F98F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194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会议纪要、通知、汇报材料、制度文件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C5CC3-38C1-4236-9D91-3E8F7F9C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981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4E3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DD6F8-19CA-45F0-ABE5-7A76691D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试点结论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F1190-E990-45A5-AFA7-2A36AB69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910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试点显示，AI 已经开始参与文档、表格、资料整理和部门流程。下一阶段可以把真实使用、典型案例和部门场景沉淀为学校成果。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78A0E-1183-4FDA-98C9-387CE23E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E55E6-87EE-45FA-86D6-4ACA4C63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AI 教育智能体建设沟通材料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7D9A7-C1AC-482B-B861-5FD02E1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64886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50756F-0458-4458-B2A8-90E4B62F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C6EE1-7128-4AC4-BF8E-5F963EC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99970-44D8-49BD-AD2A-AB1BAA58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rPr>
              <a:t>场景洞察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327C7-FED0-405D-8A63-3C5BB645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真正的价值，是处理学校反复发生的复杂工作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A6B3B-E6C7-4A6B-9008-A5D57A25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文档类需求是入口；首批聚焦更适合形成学校级沉淀的重点场景。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743B1-6137-48D7-AA26-A3DBC8C0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66D58-00C6-4AC5-8203-10C89766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ACCFE-1D6D-4ED9-A541-2D7201A7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教务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2339B-2B95-470D-9DF7-CC0ECD6F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 / 调课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冲突检查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结果导出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B471F-CE4D-4283-9B1B-4649BA24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8D0DD-B218-4429-B31F-7470B226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DD6CE-8238-470E-A5B6-3CC0F0E4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4AB25-4A1F-4B27-BAF3-EF30F55B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物料盘点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合同台账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Excel 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D4A45-C703-4A6C-99A1-D74FF177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27140-469E-466F-B03F-67B47F7F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00E4E-1328-43B1-BD70-82D76004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校办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D50F7-4ADD-4CD2-A89C-BDA4D5DE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会议纪要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通知公告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汇报材料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E5A5C-05E8-458B-A423-3B9691DB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36626-709A-483D-B7EB-5D6BCDF4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CEFD6-FF2C-4F50-ABD0-4A526E09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教学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609E5-3AB3-4437-AA56-D2E890A5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备课辅助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复习重点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成绩分析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4379E-AA29-4664-8123-668ADE3A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A11B1-0A27-4548-83A3-70A66AEC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1809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ED0A0-FB9F-4BB9-A57D-CA6A6A42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资料库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3190E-4B78-4E12-943E-711A1D51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1390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微信群资料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历史模板</a:t>
            </a:r>
          </a:p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快速检索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2A1A8-7263-4E3B-A13A-899F2144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前期需求池覆盖文档归档、会议记录、表格整理、消息分发、图片归档等；第二阶段优先把共性强、组织价值高的场景沉淀为学校能力。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C203DD-87E9-41F5-9344-17134050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93523F-4C4C-4A3C-8271-D4664457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AI 教育智能体建设沟通材料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442A0-D61D-4125-9086-A0CC88B5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57575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D6310F-475D-4C15-B8CE-609DA62B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D06BE-CE23-4D0F-8418-E4AB99C1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91D0F-B58D-499A-A16D-87037162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能力展示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12529-BC85-40CA-897C-EF1F457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排课能力展示：AI 可以处理复杂学校流程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2E8EE-00F8-4BC3-B944-82F962DB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已基于学校正式材料完成可演示版本，正在与老师做最后校准；排课能力将作为下一阶段重点场景继续打磨。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0D466-8876-4788-B360-A7E9BF5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F5ABE-C382-40F0-9326-1254A551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6EEDA-0641-4DDF-A2CC-7C1D14C8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17487-695D-48B8-9B84-5015ADC6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D5C94-176E-4E81-8F23-0AEE517D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规则识别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1E9B0-F74C-4925-AD97-E9F00488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884BB-3A06-4373-90F4-D688BF32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8B96C-BE29-4B45-937A-55231C4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生成课表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DA38C-A6F8-4756-8841-E3C61746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0E9C9-A508-4339-ACCC-1CA54469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D2A85-DB1A-4A23-B6DC-CCE13333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冲突检查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FFB42-2BAE-4751-B403-77716434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A6332-72BB-4BAB-AB33-C29CACF9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BCE50-2F27-4C4E-9B76-5A0FD954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局部调整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2119B-D0F3-4573-86D0-1BFA8F50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F3F77-429A-4158-978E-0DD195F3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7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EACDF-6F97-47E3-9CD6-457380D9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结果导出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0B288-EE15-40E1-A1EE-637E6382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695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3bca60dfd412d"/>
          <a:stretch xmlns:a="http://schemas.openxmlformats.org/drawingml/2006/main"/>
        </p:blipFill>
        <p:spPr>
          <a:xfrm xmlns:a="http://schemas.openxmlformats.org/drawingml/2006/main">
            <a:off x="1274989" y="3228975"/>
            <a:ext cx="5927271" cy="23050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324D0-8C38-4848-A29C-1DFDDCBD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95625"/>
            <a:ext cx="2857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80D845-2A0D-4DEA-A19C-21223EDB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能力重点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3C1FE-4E84-414F-ADA7-8908EE43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14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717DE-D43B-404A-B729-C2B91A13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38625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读取真实材料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18135-2580-42C0-86EC-117E4007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610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490C5-D106-4A67-8B35-E02BA77E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339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检查排课冲突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5572E-5325-497A-A470-7084F208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05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E2B36B-5886-423E-B592-5AA1686F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29175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支持局部调整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F023C2-8958-4D92-8F02-F3611A7A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00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C2C741-1C38-429F-A9AA-0A91ADA8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244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6DD"/>
                </a:solidFill>
                <a:latin typeface="PingFang SC"/>
                <a:ea typeface="PingFang SC"/>
                <a:cs typeface="PingFang SC"/>
              </a:rPr>
              <a:t>导出结果文件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99D644-17E5-4A9D-A861-74CFDA39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C8096E-65A6-499D-BF51-F64A0778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AI 教育智能体建设沟通材料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49F0F7-BC51-4FA7-87E9-9802F3BA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64215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AB639-F118-481D-87FA-1E19653D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332A6-3488-46EA-9B01-026F8FB3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721A6-DE9A-4E9B-A1F8-3372FD67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产品判断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6A509-EBA5-4CEA-BDC1-04AA548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个人助手验证需求，学校级智能体沉淀能力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5D5A3-F385-4299-9B3F-0B8CA1E8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第一阶段验证了真实需求，下一阶段把共性流程沉淀为学校统一能力。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0FC89-6E29-44A0-BC59-2C6E865F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4000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F123E-7184-47F7-9654-426AE63E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24125"/>
            <a:ext cx="4000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CFE1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CFE7F-6ED7-45D9-94FC-5EC4D087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每位老师的个人 AI 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9CA94-62A0-445B-8302-CCF6F286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1CAED-D50F-4AF3-B768-AA745501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直接进入个人电脑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A212D-09D9-465A-91E3-852C626B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26EC6-89E7-4727-B184-9D746E25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适合启动试点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8404B-400F-4FA6-8459-BB820159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2C8BF-8CAF-40AC-8A04-10D94AA7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体验接近个人助手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D804D-E0A3-4BF3-94E3-F687B6E6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B07CC-DE17-4734-82C9-2E31ECB7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但经验容易分散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E0314-6D78-4CD3-91CE-F11552A4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384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广大附教育智能体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A86C0-A144-4F6D-968E-398D1BB3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C31B8-2047-4786-8B5B-CF15EFEF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290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云端 24 小时在线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9E5B7-247F-4BFD-8661-478DCF73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7D183-414B-44F1-B618-9466C242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909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多人独立会话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D8FE4-40D8-47B2-A597-E767AB88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48E21-2189-451B-957D-44150BAA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529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沉淀学校资料和流程能力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F55B1-7185-40C6-B782-630B3F33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2CB766-926D-44AF-92C4-001E46AB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148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形成组织级 AI 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58B1E3-4263-4CDA-8B47-E2280A08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195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C1D173-DDDC-43C2-81C1-52ACCFB2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766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升级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ABADC-7D01-4597-BA98-86E560D8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2450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本地能力仍保留：老师需要处理本机文件时，可通过上传、授权或本地连接让云端智能体访问材料。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86C1ED-BC34-42A7-A27D-63C2CCA1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ED89F0-62BD-4B42-AAFD-A46EAFEF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AI 教育智能体建设沟通材料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ED6964-BBF9-47FD-891E-F0EB93C5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65771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F010C4-FD44-4B38-B1BF-7CB33637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D1F56-4C0F-4636-BFE2-C7AA752A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EA982-459D-4183-A3B4-82FE21C8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第二阶段交付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663DC-3815-4C4C-9BD1-5DBF685C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建设 24 小时在线的“广大附教育智能体”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CBCFF-902F-4EDF-A8F4-58AC4A28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45 天内形成可用版本、首批重点场景和展示材料，为持续迭代奠定基础。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79DBD-6223-4514-837C-E3D51AF9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4C019-6CCC-4B0D-9332-E521878D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广大附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教育智能体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72BEA-DA2B-4BE3-B4AF-BCBBE8EF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D30C7-2D8F-4CFD-8975-90C439F9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44F43-0997-4E33-BA5A-E7E936D6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统一入口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97E9E-CF19-488F-93A4-CC0AD269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老师、教务、总务、校办可用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1D614-5B62-47A1-9FA3-4717205D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5F586-AE53-43EF-BB3C-E0E0053D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F8592-399A-42E7-BB66-4B57729D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资料库初版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6D224-A3D5-4AD3-9452-7C03D69F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文件归档、检索、问答、引用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844EB-0B88-4321-A9D3-2B84981B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87AB7-4E29-45B4-9551-955DA7F0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D8E9B-75A5-4DD4-870D-62389488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重点场景深化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E1C07-05F8-4D46-96E0-D65B488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排课辅助、总务台账，形成真实案例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F6085-2558-4100-A560-307697C7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97452-89B6-4004-BA96-F667E69D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C8CF4-D86B-41A6-87EB-78EE5421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通用办公支持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AA565B-C47A-43B1-A377-2944FDB8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7205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文档、会议纪要、资料检索，并沉淀成果材料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00EE1-1C59-4359-9185-5F6EC65A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B0E3D3-3367-4C53-B9C6-A2CC5BB8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242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66C300-6EEC-4614-B126-95997D4F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292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AC056-6575-44C8-A2B1-2AA7A13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292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10D3EC-EE47-4CAB-B532-90E17984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901BED-9668-4E3E-A87A-12ECC44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AI 教育智能体建设沟通材料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EF4BF8-454A-4FE2-8F97-7A298D36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35344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2EF29-D784-4F53-8C28-3161CCA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E7A44-EACE-40CE-8B00-75D92BDA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02D69-0909-4F5F-A159-54ED0555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56B4A"/>
                </a:solidFill>
                <a:latin typeface="PingFang SC"/>
                <a:ea typeface="PingFang SC"/>
                <a:cs typeface="PingFang SC"/>
              </a:rPr>
              <a:t>学校价值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395DA-F505-40B5-9020-5401FE89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对老师像助手，对学校是可持续积累的智能资产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E1EE2-B044-4DD2-B881-D6735A45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同一个入口，对不同层级产生不同价值。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213DE-7770-4F1C-A8BB-64A9C04B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800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F"/>
          </a:solidFill>
          <a:ln xmlns:a="http://schemas.openxmlformats.org/drawingml/2006/main" w="9525">
            <a:solidFill>
              <a:srgbClr val="E0E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28AAD-9095-4840-A403-ADF24D13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765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6B4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56B4A"/>
                </a:solidFill>
                <a:latin typeface="PingFang SC"/>
                <a:ea typeface="PingFang SC"/>
                <a:cs typeface="PingFang SC"/>
              </a:rPr>
              <a:t>老师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F69A7-FA84-442D-923A-49B27924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处理文档、表格、通知、课件、备课、材料整理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A755E-81E2-4227-B56C-59B6D9F7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BE"/>
          </a:solidFill>
          <a:ln xmlns:a="http://schemas.openxmlformats.org/drawingml/2006/main" w="9525">
            <a:solidFill>
              <a:srgbClr val="E0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50658-3247-48FA-A227-C785BA85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部门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5109B-37C6-429D-AF53-775C5848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05225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沉淀流程、模板、台账、协作方式和可复用能力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B2987-F32B-4CEF-9C55-4F7A431C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647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E0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D63F7-A12C-4BD5-9139-BE40F420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7677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学校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2A7A3-269D-4969-8B38-E8817329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形成资料库、校本经验、教师案例和 AI 示范成果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69B87-CB0C-4F10-953D-2FD792C9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190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4D0CA-A157-4089-8683-9CAB3158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越用越有价值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A728F-255F-4B12-940C-70029701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资料、流程、模板、案例和技能不再散落在个人电脑和聊天记录里，而是沉淀为学校资产。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176F3-7BCA-403D-9ED1-76AE760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840DC-6C7F-4754-BF2E-F0C6C1ED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AI 教育智能体建设沟通材料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2136E-D5BF-4795-B5E9-A32BD6E3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71819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64085-5166-46A5-BBB4-2A6DFEA5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20CC3-5B2E-41CA-817E-7AFF47FB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391F9-AE6E-4C16-B4AD-36161EF5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政策窗口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04DA2-302F-4F3D-8F64-61ABE8AC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教育智能体建设对齐政策场景与成果申报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05EEF-6213-4BE5-AC0D-5CE1B14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下一阶段同步沉淀真实场景、使用数据和展示材料，为后续案例征集、场景示范和典型应用储备成果。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EBABE-AE5D-424E-82CA-6664117C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07033-6371-4B44-BDF5-40EBB77F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9525">
            <a:solidFill>
              <a:srgbClr val="0C7C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64158-5B08-41A6-B6FF-0A54AAE7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案例征集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33DD3-1897-4519-A4CA-4A7746E3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895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广州市教师数字素养实践活动已设置学校全面深化应用案例、用 AI/创 AI/护 AI 案例、融合创新教学案例。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F3B04-0F4C-40BE-B120-564F7683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11667-0C57-487F-B4B0-F1F8E349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4A"/>
          </a:solidFill>
          <a:ln xmlns:a="http://schemas.openxmlformats.org/drawingml/2006/main" w="9525">
            <a:solidFill>
              <a:srgbClr val="E5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3159F-5AAA-476B-B317-F52540A7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场景示范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87A1D-B1C2-4EB9-AD56-A8C57BD8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895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广州 2026 年 AI+教育教学应用场景发布目标不少于 30 个，2026-2028 年不少于 100 个。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AF9F8-1CF4-4268-9518-FF90CA5E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9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6BA2A-4616-47B9-B644-1B4D4F9B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E6DF8-EB45-488E-AEC3-60A01D56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典型应用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B4667-E2F7-4E1F-AFDA-E8828276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28956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广东全域场景应用强调“场域—场景—典型应用”，后续省级典型应用超市会持续培育案例。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6D391-1E98-423C-AD8F-84A5357B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4E3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C630F-0ED4-478D-B77F-4E8B5B51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625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对广大附的机会：以真实使用为基础，形成可展示、可评估、可复制的 AI 教育融合成果。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D2699-A161-4BAC-8E74-2B5FB593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来源：广州市教育局 2026 教师数字素养实践活动通知；广州市人工智能产业 2026 工作要点；广东省教育厅全域场景应用指南政策解读。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5DDD9-C641-4953-AFC5-8EF755BB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13342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8D36B-6440-4FB3-86A2-50EE36F3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907D1-5C6A-4143-9FD7-BA29E75D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C5B91-494D-46EA-AF96-CD0F122D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示范路径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25108-2154-43C7-B81F-3F282DBD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从试点学校，到 AI 示范校园成果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E7110-62E2-43B2-A84F-1F2130B6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885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示范成果来自真实使用、真实场景和可复盘材料的持续积累。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36919-B7DD-4E8B-A9A7-8B6E9CA6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9F8FF-4432-4FDE-B2AB-5C28603E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真实使用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A94FE-AA22-42BF-BA94-07CF19F5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老师和部门持续使用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5C6F5-EF8A-4D3B-AEAB-FAA9B0A0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0DCBD-4010-43E4-AE8A-EFB149CD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A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C2F97-D6E0-42FD-8831-B163B856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C7C59"/>
                </a:solidFill>
                <a:latin typeface="PingFang SC"/>
                <a:ea typeface="PingFang SC"/>
                <a:cs typeface="PingFang SC"/>
              </a:rPr>
              <a:t>教育智能体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F3D94-BE43-40B3-97D0-9E91B829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云端主体与资料库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1EF85-B466-4D6B-BF56-456722E7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6C5CA-AA7A-4AA0-B2B7-4533E7AF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B5CAD-2421-4B96-890C-8A0D1E16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重点场景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46582-7C14-4693-AC53-846EA4C6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排课 / 总务 / 资料库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33E9B-7CD5-4B5C-9E31-54EE209C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7B843-4459-4CCE-B618-6D67C4E8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C23F2-1979-4AD6-B9A9-D2733A3A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案例沉淀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4550E-AB18-4ED1-8FAD-47C685D2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教师/部门/学校案例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98735-2061-4896-8E42-FC713239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2107D-E677-480B-903A-1A556654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07CCD-2941-4B4D-9A34-F1361A61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材料包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D007F0-54BE-41DF-9A2A-8C6FFA5B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方案、报告、截图、数据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E4285-3A1D-401B-8E09-11F0E150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385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8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0A142-72DB-46A9-9412-CD36C1ED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1371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562E1-A6A9-4821-B546-6B5EBDCA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03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窗口匹配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49190-32E5-4F71-869C-9E979775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963"/>
                </a:solidFill>
                <a:latin typeface="PingFang SC"/>
                <a:ea typeface="PingFang SC"/>
                <a:cs typeface="PingFang SC"/>
              </a:rPr>
              <a:t>案例、场景、申报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59D89-CB3C-4307-AB85-1A356644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9525">
            <a:solidFill>
              <a:srgbClr val="16211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01DC71-B177-49AC-A5D9-7C485703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96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建议学校指定项目负责人，开放首批真实材料，组织关键老师反馈；项目团队负责技术建设、场景落地、成果整理和窗口跟踪。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C9FB19-7639-4584-B77A-B514FDB1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610081-61D5-4C00-932C-B713790F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AI 教育智能体建设沟通材料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8326B6-2DEA-49CF-A7D8-E3672B95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B857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39593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F0F4E1-3BBD-49CF-928A-ED02FC9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DDC83-C6CA-4DB4-AF5E-C7A0FDC2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建议启动第二阶段建设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BC291-B5F1-4156-948A-E468CC4E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把第一阶段试点升级为正式的“广大附教育智能体”建设项目。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038FD-ADBC-468D-8F7D-0C7B3A55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2A"/>
          </a:solidFill>
          <a:ln xmlns:a="http://schemas.openxmlformats.org/drawingml/2006/main" w="9525">
            <a:solidFill>
              <a:srgbClr val="31443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2A323-043F-4BB6-9DFD-6CC9605B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标准服务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FFFE5-D687-4004-A7C2-3F386842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48,000 元 / 季度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349FC-CC81-4477-A9B4-4D98C43B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7D3CB"/>
                </a:solidFill>
                <a:latin typeface="PingFang SC"/>
                <a:ea typeface="PingFang SC"/>
                <a:cs typeface="PingFang SC"/>
              </a:rPr>
              <a:t>具体服务周期与支持方式可在合作文件中确认。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2A726-A4DE-496A-9262-413DCEDC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5810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F7F8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8827E-022E-4689-8BA4-5DDF967F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建议确认三项启动条件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DB552-DA77-46A5-BC0C-CA3F5362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52BF8-7820-49B0-B811-A24BC9FC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194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是否进入第二阶段建设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9246C-FDC4-4E26-A748-DD2A78C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95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9B917-1842-421A-ACA8-965C47A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1950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是否指定校内项目对接人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03040-A18F-43AB-82A5-086982CA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473C4-C20E-45D8-A9E4-CB829C3C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95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B2520"/>
                </a:solidFill>
                <a:latin typeface="PingFang SC"/>
                <a:ea typeface="PingFang SC"/>
                <a:cs typeface="PingFang SC"/>
              </a:rPr>
              <a:t>是否确定排课、总务台账、资料库为首批场景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3F762-531F-41CF-9AD4-3D4143D1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前期试点已经验证基础可行性，下一阶段重点是将分散能力沉淀为学校可持续使用的智能资产。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20F8C-C5AA-4CAF-9D62-A6BA2CF8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DA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AAA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4810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2026-05-27T12:56:38.0940000Z</dcterms:created>
  <dcterms:modified xsi:type="dcterms:W3CDTF">2026-05-27T12:56:38.0940000Z</dcterms:modified>
</coreProperties>
</file>