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07b444edf24674" /><Relationship Type="http://schemas.openxmlformats.org/officeDocument/2006/relationships/extended-properties" Target="/docProps/app.xml" Id="R744751574b7043f2" /><Relationship Type="http://schemas.openxmlformats.org/officeDocument/2006/relationships/officeDocument" Target="/ppt/presentation.xml" Id="Rc9658fef7d384a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07c9df40df4f3b"/>
  </p:sldMasterIdLst>
  <p:notesMasterIdLst>
    <p:notesMasterId xmlns:r="http://schemas.openxmlformats.org/officeDocument/2006/relationships" r:id="R2f86aec70b054e44"/>
  </p:notesMasterIdLst>
  <p:sldIdLst>
    <p:sldId xmlns:r="http://schemas.openxmlformats.org/officeDocument/2006/relationships" id="256" r:id="R5fa2c90a3dc9494b"/>
    <p:sldId xmlns:r="http://schemas.openxmlformats.org/officeDocument/2006/relationships" id="257" r:id="Ra67aefdd25f34e39"/>
    <p:sldId xmlns:r="http://schemas.openxmlformats.org/officeDocument/2006/relationships" id="258" r:id="R368d59cbda904c58"/>
    <p:sldId xmlns:r="http://schemas.openxmlformats.org/officeDocument/2006/relationships" id="259" r:id="R3be5be5da14b4332"/>
    <p:sldId xmlns:r="http://schemas.openxmlformats.org/officeDocument/2006/relationships" id="260" r:id="R787c35104b8c404e"/>
    <p:sldId xmlns:r="http://schemas.openxmlformats.org/officeDocument/2006/relationships" id="261" r:id="R7d867b29f2534a94"/>
    <p:sldId xmlns:r="http://schemas.openxmlformats.org/officeDocument/2006/relationships" id="262" r:id="Rce053d4d19f1428e"/>
    <p:sldId xmlns:r="http://schemas.openxmlformats.org/officeDocument/2006/relationships" id="263" r:id="R077fa377d97d459b"/>
    <p:sldId xmlns:r="http://schemas.openxmlformats.org/officeDocument/2006/relationships" id="264" r:id="R67c209a32dd845ec"/>
    <p:sldId xmlns:r="http://schemas.openxmlformats.org/officeDocument/2006/relationships" id="265" r:id="R57386c3d0d094e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7c9df40df4f3b" /><Relationship Type="http://schemas.openxmlformats.org/officeDocument/2006/relationships/theme" Target="/ppt/theme/theme1.xml" Id="Rc604e7931e164c44" /><Relationship Type="http://schemas.openxmlformats.org/officeDocument/2006/relationships/notesMaster" Target="/ppt/notesMasters/notesMaster1.xml" Id="R2f86aec70b054e44" /><Relationship Type="http://schemas.openxmlformats.org/officeDocument/2006/relationships/presProps" Target="/ppt/presProps.xml" Id="R5aa0d83d8e2f4d2b" /><Relationship Type="http://schemas.openxmlformats.org/officeDocument/2006/relationships/viewProps" Target="/ppt/viewProps.xml" Id="R8b0df9c6525b49b1" /><Relationship Type="http://schemas.openxmlformats.org/officeDocument/2006/relationships/tableStyles" Target="/ppt/tableStyles.xml" Id="R9648ed6fccbb46cb" /><Relationship Type="http://schemas.openxmlformats.org/officeDocument/2006/relationships/slide" Target="/ppt/slides/slide1.xml" Id="R5fa2c90a3dc9494b" /><Relationship Type="http://schemas.openxmlformats.org/officeDocument/2006/relationships/slide" Target="/ppt/slides/slide2.xml" Id="Ra67aefdd25f34e39" /><Relationship Type="http://schemas.openxmlformats.org/officeDocument/2006/relationships/slide" Target="/ppt/slides/slide3.xml" Id="R368d59cbda904c58" /><Relationship Type="http://schemas.openxmlformats.org/officeDocument/2006/relationships/slide" Target="/ppt/slides/slide4.xml" Id="R3be5be5da14b4332" /><Relationship Type="http://schemas.openxmlformats.org/officeDocument/2006/relationships/slide" Target="/ppt/slides/slide5.xml" Id="R787c35104b8c404e" /><Relationship Type="http://schemas.openxmlformats.org/officeDocument/2006/relationships/slide" Target="/ppt/slides/slide6.xml" Id="R7d867b29f2534a94" /><Relationship Type="http://schemas.openxmlformats.org/officeDocument/2006/relationships/slide" Target="/ppt/slides/slide7.xml" Id="Rce053d4d19f1428e" /><Relationship Type="http://schemas.openxmlformats.org/officeDocument/2006/relationships/slide" Target="/ppt/slides/slide8.xml" Id="R077fa377d97d459b" /><Relationship Type="http://schemas.openxmlformats.org/officeDocument/2006/relationships/slide" Target="/ppt/slides/slide9.xml" Id="R67c209a32dd845ec" /><Relationship Type="http://schemas.openxmlformats.org/officeDocument/2006/relationships/slide" Target="/ppt/slides/slide10.xml" Id="R57386c3d0d094e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086b2b8f98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9b91a6c14c4164" /><Relationship Type="http://schemas.openxmlformats.org/officeDocument/2006/relationships/notesMaster" Target="/ppt/notesMasters/notesMaster1.xml" Id="R091db51aaba845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48df1f60184ff7" /><Relationship Type="http://schemas.openxmlformats.org/officeDocument/2006/relationships/notesMaster" Target="/ppt/notesMasters/notesMaster1.xml" Id="R34876bd037e146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b5baa24491431a" /><Relationship Type="http://schemas.openxmlformats.org/officeDocument/2006/relationships/notesMaster" Target="/ppt/notesMasters/notesMaster1.xml" Id="R8baebe757bb346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24ed5a152241f6" /><Relationship Type="http://schemas.openxmlformats.org/officeDocument/2006/relationships/notesMaster" Target="/ppt/notesMasters/notesMaster1.xml" Id="R9f46e515fbf545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f62c64cba64b7c" /><Relationship Type="http://schemas.openxmlformats.org/officeDocument/2006/relationships/notesMaster" Target="/ppt/notesMasters/notesMaster1.xml" Id="Rc13e972edc9743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a62bba80064877" /><Relationship Type="http://schemas.openxmlformats.org/officeDocument/2006/relationships/notesMaster" Target="/ppt/notesMasters/notesMaster1.xml" Id="R0d1dc018a02e44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aa3d1f36754ddf" /><Relationship Type="http://schemas.openxmlformats.org/officeDocument/2006/relationships/notesMaster" Target="/ppt/notesMasters/notesMaster1.xml" Id="Rd41209367b7446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bba809dcba4f80" /><Relationship Type="http://schemas.openxmlformats.org/officeDocument/2006/relationships/notesMaster" Target="/ppt/notesMasters/notesMaster1.xml" Id="R5ae10a4c72ec4c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027b3d53dd48d8" /><Relationship Type="http://schemas.openxmlformats.org/officeDocument/2006/relationships/notesMaster" Target="/ppt/notesMasters/notesMaster1.xml" Id="R18581bb686ca4e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bc2009cce64372" /><Relationship Type="http://schemas.openxmlformats.org/officeDocument/2006/relationships/notesMaster" Target="/ppt/notesMasters/notesMaster1.xml" Id="R1d9a167e569942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03cb8fe07416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4ce4b3b2564c8e" /><Relationship Type="http://schemas.openxmlformats.org/officeDocument/2006/relationships/slideLayout" Target="/ppt/slideLayouts/slideLayout2.xml" Id="Re5770540c50f41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770540c50f41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36f9b697c4be9" /><Relationship Type="http://schemas.openxmlformats.org/officeDocument/2006/relationships/notesSlide" Target="/ppt/notesSlides/notesSlide1.xml" Id="R17f0095d82144b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29a2b4b5fc496f" /><Relationship Type="http://schemas.openxmlformats.org/officeDocument/2006/relationships/notesSlide" Target="/ppt/notesSlides/notesSlide2.xml" Id="R354556e1ff9049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d775dc94b54f10" /><Relationship Type="http://schemas.openxmlformats.org/officeDocument/2006/relationships/notesSlide" Target="/ppt/notesSlides/notesSlide3.xml" Id="Rb712b35f1601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71fa6e2ba94887" /><Relationship Type="http://schemas.openxmlformats.org/officeDocument/2006/relationships/image" Target="/ppt/media/image.png" Id="Rd63dc797f1c54113" /><Relationship Type="http://schemas.openxmlformats.org/officeDocument/2006/relationships/notesSlide" Target="/ppt/notesSlides/notesSlide4.xml" Id="R301d533b7cf24f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f0c18f13af4be1" /><Relationship Type="http://schemas.openxmlformats.org/officeDocument/2006/relationships/notesSlide" Target="/ppt/notesSlides/notesSlide5.xml" Id="Rc529c1782b7c41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aa62223f2f4083" /><Relationship Type="http://schemas.openxmlformats.org/officeDocument/2006/relationships/notesSlide" Target="/ppt/notesSlides/notesSlide6.xml" Id="R74b39f4c9fa549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acdbbbb9264e94" /><Relationship Type="http://schemas.openxmlformats.org/officeDocument/2006/relationships/notesSlide" Target="/ppt/notesSlides/notesSlide7.xml" Id="R6fb2fa25021441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1a8731ddb64bb7" /><Relationship Type="http://schemas.openxmlformats.org/officeDocument/2006/relationships/notesSlide" Target="/ppt/notesSlides/notesSlide8.xml" Id="R7c78f5c9e05d4e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a08461f7dd40b5" /><Relationship Type="http://schemas.openxmlformats.org/officeDocument/2006/relationships/notesSlide" Target="/ppt/notesSlides/notesSlide9.xml" Id="Re46da0ec6fc04d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71b8c1f76744ef" /><Relationship Type="http://schemas.openxmlformats.org/officeDocument/2006/relationships/notesSlide" Target="/ppt/notesSlides/notesSlide10.xml" Id="R0cadb7ca9cde42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9B330C-DEDD-49A5-B6B6-7F24DF04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B6414-E99C-4E18-921B-9523953C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86F64-75AB-4A9E-B12E-FD43443C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广大附 AI 助手试点阶段汇报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C3F15-49E0-425C-BEC2-8EB972D2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与教育智能体建设建议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41CB2-5EA8-403A-90AB-04FE1F09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从老师个人 AI 助手，到学校级校园智能助手，再到 AI 示范校园成果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475C8-F796-4429-AA1B-1EE09FB9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83C8E-D64D-48F4-8474-54FDA5DE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EFC17-44A3-469C-AC72-C6E8EE67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试点已成立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E46B3-1B49-4495-94FF-74B57CC9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AI 已进入老师真实工作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047C2-95BD-4C9B-9D35-370291D5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95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2C4E0-A214-41AB-BBD5-F4E34719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第二阶段交付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99FF1-E540-421D-A0AB-3CA8F115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00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建设“广大附教育智能体”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E25C6-9A11-4D72-ADFE-1C3C57F0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99B39-A675-4E97-B97C-6A93AFAB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示范校园成果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69C19-4584-4394-A5CE-3DCCC434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00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沉淀可展示、可申报材料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BEC6D-F1C6-45A8-B4B1-C81646A5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AA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AAA2"/>
                </a:solidFill>
                <a:latin typeface="PingFang SC"/>
                <a:ea typeface="PingFang SC"/>
                <a:cs typeface="PingFang SC"/>
              </a:rPr>
              <a:t>2026.05.28 · CatsCo / XiaoBa-CLI</a:t>
            </a:r>
          </a:p>
        </p:txBody>
      </p:sp>
    </p:spTree>
    <p:extLst>
      <p:ext uri="{BB962C8B-B14F-4D97-AF65-F5344CB8AC3E}">
        <p14:creationId xmlns:p14="http://schemas.microsoft.com/office/powerpoint/2010/main" val="14846202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971A7F-F2EC-4DF4-BCED-BF0101A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719B2-4DD7-4C6C-ACAC-B9D90D6D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220C1-E25F-49CE-8215-24C26618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第一阶段试点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602F2-BA24-4FBB-A6C4-7ABFE27D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AI 已经进入老师真实工作流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925ED-A934-4894-AD4D-C7726025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第一阶段的关键成果不是安装了工具，而是老师开始用 AI 处理真实任务。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E336A-798C-4EF0-91DF-F986357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988A7-EEB3-40FC-87EC-E7AAF833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3B04E-664B-4C3C-9C5E-A41B3B5A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总务处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0571B-5714-499A-BC13-B386AD7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盘点、物料、合同、Excel 台账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43F20-1FA2-433E-94B3-48F0DF8B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24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4044A-485E-4335-A9A4-0A0251B5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241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F7287-36D9-41CA-BE7F-9058E48C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9557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教务处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7D47B-2F5E-4CBC-A474-D32E3771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194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排课、调课、冲突检查、结果导出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13EEA-DA52-4009-9D33-122A4076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F0742-F19C-4C97-B10A-E7E2E762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8D270-ECAD-4464-A34C-D6350433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9557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校办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7D8C4-9C82-4BD0-A5CE-FB7526A0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194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会议纪要、通知、汇报材料、制度文件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833A6-9058-41C1-BCC8-BEB171F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981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4E3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37325-B9C2-4DE0-95BD-BA991813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试点结论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A0A97-02C2-4FC6-BAC6-CAB4A445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910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老师不是只“体验一下 AI”，而是已经把 AI 放进文档、表格、资料整理和部门流程里。需求已经被验证，下一步应该把分散使用沉淀成学校级能力。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AFE86-F2A0-4B43-84E5-DFA811C4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E382E-D176-485B-A247-CD67BD3E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CDF6F-426D-4EA6-B88E-C21CC3B2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62873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54E1E4-A2E8-45D4-AE43-85D2763E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61B75-F66F-452C-BDD5-29AFC657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076F4-9849-4D21-9DA6-0B2170CF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rPr>
              <a:t>场景洞察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E58A6-2B49-4576-B917-7042237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真正的价值，是处理学校反复发生的复杂工作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48F3B-5D2F-4559-BE84-4CBD2C57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文档类需求是入口；首批要抓能证明深度、减负和学校沉淀的三个场景。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20D2E-0561-4AF0-8532-37A7A4BD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C7211-758D-4A4F-B577-1FA3B7A3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00107-F144-4FC3-AAA3-60275BF2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11C0A-F4E6-4573-8E10-9CB3A2C3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 / 调课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冲突检查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结果导出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AF3CA-8104-444D-B064-1A140033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DC41C-5DC4-4F27-A2FF-8CA7697A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D660B-56F0-43D1-96E8-469388CE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87410-857E-4577-BA79-BF73E658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物料盘点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合同台账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Excel 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96054-54D1-40EA-AD93-68275194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4D031-1EE8-4363-BA65-980C7584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5E7EA-E221-4602-9BD1-FC62DB81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校办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F4FF1-83A2-45F5-8F03-D9EA2803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会议纪要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通知公告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汇报材料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22DA2-DE85-4E95-A351-56D291A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4D290-132E-4DE8-B34A-EDCF65C5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5C12A-E35E-4FFA-BBDB-D5ADFDD2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2B38A-5820-45AD-A01E-D3894836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第二批场景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备课辅助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复习重点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F33A5-FED0-436D-9EFF-1CAA184A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72794-4C60-4457-8975-AC25F95C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0507D-18AF-49C7-8F22-780F2BF6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1E634-6B71-407F-9441-E7DE5316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微信群资料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历史模板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快速检索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7EEDA8-6943-4186-BCDB-B10294AD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明天重点讲深三件事：排课、总务台账、学校资料库。成绩分析和备课辅助放到第二批，避免承诺过满。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39536-07E7-4A5C-8467-5F92F217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95FC5-0291-4E73-AEF2-23928623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18DAB-CFC1-46F2-89F6-3E83EE89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44793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531E6-2AFD-449D-9D38-04905A87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7586F-9C0A-4E6E-8A3A-76DE0E9E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3B94E-58A8-409A-A6B1-44DA160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现场展示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B356-F084-47F8-A60B-5810A1A5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排课证明：AI 可以处理复杂学校流程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DA64F-2A5B-4249-80D4-3D9066C3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排课不是普通文本生成，它需要读取材料、理解约束、生成方案、检查冲突、支持修改和导出。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E41CD-0C7F-4B0A-A221-345AC9BD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AC8B3-9C0F-4682-819B-891541F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3953D-1185-4AFE-AFED-B253E843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BA93F-196F-4A77-B93D-C4DB856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029D2-E541-4E83-85B4-6D72388F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规则识别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4EBD6-0072-4ABA-9882-74E00609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46BE8-2A3A-4909-B4E7-DDC8465B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A7DCA-ECB0-42D1-9AD1-7C07DF11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生成课表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0CC96-FBEF-459C-A655-C11D3D64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DAA67-74BD-4737-A598-6310964B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5ED2F-54E0-4822-A572-147181D7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冲突检查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ACD52-CFF1-4755-8A91-8AAE0FAA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D05CB-7EC0-4D4C-9AD1-69A27452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036C2-F751-40F4-B8C6-A63E9546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局部调整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3A02A-9D57-45BA-B79A-EA11D77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91875-02F0-41AC-9B2B-8BE92D02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96341-9A0B-410B-98CA-4E677F67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结果导出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89DFA-DCAF-4CDD-B337-1AFCAB03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695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dc797f1c54113"/>
          <a:stretch xmlns:a="http://schemas.openxmlformats.org/drawingml/2006/main"/>
        </p:blipFill>
        <p:spPr>
          <a:xfrm xmlns:a="http://schemas.openxmlformats.org/drawingml/2006/main">
            <a:off x="1274989" y="3228975"/>
            <a:ext cx="5927271" cy="23050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8A9A7-2B29-4DF6-86C6-8DA04AB4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95625"/>
            <a:ext cx="2857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F29746-3964-4772-8835-E16C964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演示要证明的不是界面，而是 skill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46BD0-BCF8-40E5-87DB-AAFE7DB7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10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C49E0C-049F-4588-A83C-7A17262A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可复用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B075A-FE52-40F4-93B2-0E46FD26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733356-A778-417F-BD60-5BE12EEA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29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可检查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E0540-E068-4E69-8078-A49F1AC0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000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098E7-3584-4CB5-B754-CD216B4B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244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可调整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7429EC-2D45-402B-B39D-0B1C650E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95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B1F6D7-3DA9-4806-9D43-F66B112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可导出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BA4977-3ED7-41C5-86A6-72321365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7C0228-9E0D-4013-A741-E3B7CE2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DF9B05-3FCA-4DDA-95CE-AD8D6676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93720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1AB6E-9B8D-4249-AEB3-44D82227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04333-BC5C-44F1-86BF-8044A369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50D9F-6FDC-47F5-A6AD-B252A901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产品判断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A5B0B-8378-404E-B806-E1128730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个人助手验证需求，学校级智能体沉淀能力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DCBA6-8B88-4CAA-BBB6-2AA294B7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第一阶段不是被否定，而是证明了下一阶段应该怎么升级。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15320-667D-4AD7-9C15-A000810F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4000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85795-F9EE-4545-B9FC-A127116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24125"/>
            <a:ext cx="4000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CFE1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0BB6C-2CEA-40E6-874B-1B39FF3A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每位老师的个人 AI 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85EF6-C189-42D8-A79A-8FF080E8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2E284-EDBE-40A6-B9C6-CBF81934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直接进入个人电脑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E5918-ED1E-41B0-941D-10E17D6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6601B-634C-4908-90B1-81F791FA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适合启动试点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BD34C-8F24-452B-B7D8-7A29265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A29C6-B395-4156-B0FD-D3861618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体验接近个人助手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8CE37-6081-4CD0-92A4-FD79AF7F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FE025-CF67-460F-B5F8-8A560A73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但经验容易分散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DCC6C-929F-434E-B6A2-BA8C478F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38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广大附教育智能体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13C2C-1E74-49F1-A205-2150F69A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1C947-D364-4068-93C2-DB1B457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290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云端 24 小时在线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63434-E492-4561-AC24-A66BEE50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929BA-41D9-4D3F-9EA2-D78B9F04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909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多人独立会话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10CF1-7048-4ED3-82D5-C47C00BA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B43D1-A772-4E0A-9D00-CF91A610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529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沉淀学校资料和 skill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CA86D-4411-4F5F-A41E-0BA42C8B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86770-BB52-4B22-B55A-06CF072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148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形成组织级 AI 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F23F8-EB9D-4DC1-8916-1BB0EE9B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195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4DA0E-17C5-4A65-9459-4E24E148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766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升级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B29F47-8D6D-4FF9-98EC-92947038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2450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本地能力仍保留：老师需要处理本机文件时，可通过上传、授权或本地连接让云端智能体访问材料。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0867E-8CC6-4DF7-9161-D5F33BD9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5F868A-695A-42B6-9B1B-207452AE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87705C-7783-41FF-96B8-68CD15A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86860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C922B1-5740-42C3-A36D-18C82875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1A4C3-9020-40BC-9F76-03051D35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6ADA6-6911-4A0D-AA02-45159093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第二阶段交付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44E8E-A8C7-4636-95FB-DFC2E116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建设 24 小时在线的“广大附教育智能体”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C3BF3-524B-4B89-9265-BFAE5DB4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45 天不是一次性替代所有系统，而是形成可展示版本和首批真实成果。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32D6A-836A-4326-BC4A-9C3E5A99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23561-9AA6-4061-ACF7-A483FDA7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广大附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教育智能体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71348-8E21-4276-A10F-B22624A0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BFF8B-F817-4376-AB49-DB29FD84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DA1B9-F430-4F8B-B5C4-81009A74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统一入口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FBBE1-AD0B-4A44-A6E3-7FD8F1CC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老师、教务、总务、校办可用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7272F-F02F-4BC9-84C1-942C2DA0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68FAD-E0D2-42B5-A138-4FBAE167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D0FD5-6B26-47AF-A641-95C6DDF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资料库初版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107FA-852B-4C4A-8E85-25736537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文件归档、检索、问答、引用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B8EB8-1EA4-479C-AD57-BB5735F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6ACC5-F709-4631-B7AE-170FD73B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F216E-A575-4248-899B-2F79059D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1-2 个做深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8C793-4AFD-4C53-BE71-3737715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排课辅助、总务台账，形成真实案例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C79ED-F621-477A-A3B2-5413669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C5121-12C3-499F-BA81-69F54053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F4D55-0C63-4224-9600-F47E740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2-3 个轻量可用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69484-1B4A-410C-A857-15D0B1C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720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文档、会议纪要、资料检索，并沉淀申报材料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12B18-6259-4747-827C-CC299AB2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4A9AB-2CC7-4838-B16B-32C8518C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242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814DA-E410-4652-8D85-9C98C52F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292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0D0048-793F-4E1D-8C7F-916D6A55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292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4DF455-0806-4ED0-8ADF-680B6449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8FEEA-A70F-411C-A767-6363CF43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C22F4E-0CC2-4853-A833-607342C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39515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2F7570-01AE-40A0-ACC5-8360291A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2F7F3-23E1-4007-B995-83F387C0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07EE2-EE02-4AD6-B053-AB8ADDD0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rPr>
              <a:t>学校价值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E49A2-4217-496C-AB59-B913CB7B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对老师像助手，对学校是可持续积累的智能资产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EADD4-9FDB-44E6-A8F8-1F82D2A9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同一个入口，对不同层级产生不同价值。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F4C07-91EF-4A3D-A26D-F85FD8DF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F"/>
          </a:solidFill>
          <a:ln xmlns:a="http://schemas.openxmlformats.org/drawingml/2006/main" w="9525">
            <a:solidFill>
              <a:srgbClr val="E0E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8D35F-0096-49C2-943B-01DE91A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765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6B4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56B4A"/>
                </a:solidFill>
                <a:latin typeface="PingFang SC"/>
                <a:ea typeface="PingFang SC"/>
                <a:cs typeface="PingFang SC"/>
              </a:rPr>
              <a:t>老师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DAB10-C081-4E91-B8FC-D56FB01C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处理文档、表格、通知、课件、备课、材料整理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72FC3-1E93-44DB-B751-3E708D37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BE"/>
          </a:solidFill>
          <a:ln xmlns:a="http://schemas.openxmlformats.org/drawingml/2006/main" w="9525">
            <a:solidFill>
              <a:srgbClr val="E0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A27B4-F66F-46EB-B446-01F9463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部门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4D3FC-C378-4F9A-B758-D34F184A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05225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沉淀流程、模板、台账、协作方式和可复用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DE69B-3D00-4503-BFD2-9677D546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647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E0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59435-4D99-46C1-9FE1-9280E24F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767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学校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143EB-AB4C-4104-81AA-1512D2D9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形成资料库、校本经验、教师案例和 AI 示范成果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2CE48-EB38-4BE9-862A-DE5EF80D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190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653A2-FCC5-4DAE-8301-1DF3842D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越用越有价值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EC35A-5BD8-41BC-90DE-92922B62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资料、流程、模板、案例和技能不再散落在个人电脑和聊天记录里，而是沉淀为学校资产。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2BC98-32CF-4A50-9022-1985879B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3F8C8-4A82-4CC9-8316-983F3180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0F96A-BE51-4C8D-B458-A7B69E7E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54891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227E2-1A97-4769-8087-DA8BA192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C12F4-0547-44D4-BE9D-4DFFB32A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24454-403C-4B89-9BBB-7A076054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政策窗口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357C3-8FA9-412A-A0E1-50CD9B6A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政策窗口要落到具体申报抓手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BE7D6-5172-4919-8317-D3A23948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不是泛泛讲政策，而是把“广大附教育智能体”提前做成可提交的案例和场景。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542E4-5015-497D-8CFD-C7B586A7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39530-7934-4119-8A4F-34E7EBEA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0EF05-B907-4E05-B9D2-BBDE9313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案例征集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BCE21-1AAD-4919-9123-17B91DF3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895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广州市教师数字素养实践活动已设置学校全面深化应用案例、用 AI/创 AI/护 AI 案例、融合创新教学案例。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A4589-6322-4CDF-8E9B-B11F6A5C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574BC-CFBB-401D-9036-F83E9145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6DE46-CA38-4765-BD3C-1E5AA626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场景示范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8ED70-DF49-474C-97DA-E7609BDB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895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广州 2026 年 AI+教育教学应用场景发布目标不少于 30 个，2026-2028 年不少于 100 个。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40D77-22C6-45A7-B7AF-E98B826E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67167-B83F-4D16-B506-5C12D529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7E20D-58DC-4416-9745-6DBAE888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典型应用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925A8-8FB6-48D9-AD2F-8338DC4B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2895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广东全域场景应用强调“场域—场景—典型应用”，后续省级典型应用超市会持续培育案例。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30ABE-DF98-4BFE-8D6E-5BC794C2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4E3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62B52-702D-4D16-99CC-D008153B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625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对广大附的机会：先形成真实场景、使用数据、展示材料，再去储备和对接案例、场景、典型应用窗口。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BBD3E-271D-493E-A193-B970250E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来源：广州市教育局 2026 教师数字素养实践活动通知；广州市人工智能产业 2026 工作要点；广东省教育厅全域场景应用指南政策解读。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ECCDE-9ABD-4DA2-B9F5-50AEF02C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90057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AAD9B3-DCB6-436C-95E3-B7B2E405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A07CC-179C-441B-8446-AE5513EC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EF921-CD9E-4E63-9729-D8537BFA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示范路径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A63CA-946E-4F8B-877A-B374331E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从试点学校，到 AI 示范校园成果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23769-732D-47B5-8F8C-433E2E96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示范不是写出来的，而是从真实使用、真实场景和真实成果中整理出来的。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6E926-077B-462A-9B82-3C6AAA73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D9EAA-E2CC-4059-9098-39615860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真实使用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ABFB0-ADE4-4B9F-9C32-B41F6921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老师和部门持续使用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2343F-9752-4FD9-A12D-22C8F716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F0138-12A4-41F7-9A44-5BF4DA47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986FB-53C8-447A-959F-77B8A12C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教育智能体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E2713-2483-42C8-9EFB-774ABDD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云端主体与资料库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58EAE-C323-4E71-93CB-EA140A57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BBC67-E4CA-4986-8607-BD5E5B47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FEADB-3A9B-439E-AB40-D1819FC7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重点场景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56BEA-409A-4364-A5FF-89EA87CA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 / 总务 / 资料库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54FC9-CF2C-4A98-BDFA-A0DABC3E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833ED-F987-425F-A82D-214BD523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C29BA-CE92-4E07-9512-6B18B2F9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案例沉淀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68351-BA07-4994-AF95-AB7223E0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教师/部门/学校案例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55BAB-DEB4-46D1-903F-BAFEF781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50CFA-C080-487B-8E47-F22A9838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275405-60E9-46BD-8C34-BA61421E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材料包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BCCE1-EAB3-4B8A-A6B0-75DFC18A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方案、报告、截图、数据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E0EA9-E9DE-49C1-9F7D-8085B296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CF7F3A-69A7-4194-99C1-C379DA1E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74A36-CB70-41DB-A0FF-4D367540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窗口匹配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47763-454E-4171-95B2-08D16088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案例、场景、申报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28895-E764-45A7-9987-1687B3D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D2022D-6C33-4F2D-90A6-5C52E62A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9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学校只需指定负责人、开放首批真实材料、组织关键老师反馈；技术建设、场景落地、成果整理和窗口跟踪由我们承担。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8FF578-E3C4-403B-B045-0F00A654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932645-5E78-40EA-AEEE-9D454BD1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CatsCo / XiaoBa-CLI · 校长汇报初稿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A0DCAD-9E8F-4419-9612-0A17FDD7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609738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1CE1DD-B3E2-40FC-BBD5-3C7E6F8E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7A182-DD44-4A2E-B99D-C3B7B450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建议启动第二阶段建设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A8EDB-FAC7-4AA4-8F6E-6142DFE6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把第一阶段试点升级为正式的“广大附教育智能体”建设项目。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AC7D6-3A4F-49BE-A956-C64DE57C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2A"/>
          </a:solidFill>
          <a:ln xmlns:a="http://schemas.openxmlformats.org/drawingml/2006/main" w="9525">
            <a:solidFill>
              <a:srgbClr val="3144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84E14-0727-409A-B11A-39CE592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标准服务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37501-66B3-4530-8CF8-53D9FCA2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48,000 元 / 季度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43ADC-5C6A-4502-8347-9DC2DE4E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首批示范学校可在确认书中约定专项支持方式。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FF53D-E2C5-406C-B1C3-C7B2A8C5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5810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F7F8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E81D1-C191-4E09-AC77-912562E1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希望今天先确认 3 件事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C8932-33AD-48E6-9726-DF1096CF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F2B04-7AE0-44BA-966B-E85FE3E1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194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是否进入第二阶段建设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B1E89-0059-4558-A06A-5FB758C5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95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EABC0-6A3A-42D2-A61B-005420FE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1950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是否指定校内项目对接人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0E1A5-7DA3-4CCC-9FFA-F45D2D7C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1E95E-7A70-4355-99AE-8A067128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是否确定排课、总务台账、资料库为首批场景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C8043-B2A7-476E-999F-5A5B8332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下一步不是重新讨论 AI 能不能用，而是把已经验证的试点，变成学校可以持续拥有的能力和成果。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43AC8-E92E-4B02-B3FE-ECA72E3F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DA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AAA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4941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2026-05-27T12:05:22.2200000Z</dcterms:created>
  <dcterms:modified xsi:type="dcterms:W3CDTF">2026-05-27T12:05:22.2200000Z</dcterms:modified>
</coreProperties>
</file>